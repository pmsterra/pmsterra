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7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78717dbe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78717dbe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0" Type="http://schemas.openxmlformats.org/officeDocument/2006/relationships/image" Target="../media/image8.png"/><Relationship Id="rId9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-118125" y="2687975"/>
            <a:ext cx="12015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MLOps with </a:t>
            </a:r>
            <a:r>
              <a:rPr b="1" i="0" lang="en-US" sz="5100" u="none" cap="none" strike="noStrike">
                <a:solidFill>
                  <a:srgbClr val="1A73E8"/>
                </a:solidFill>
                <a:latin typeface="Inter"/>
                <a:ea typeface="Inter"/>
                <a:cs typeface="Inter"/>
                <a:sym typeface="Inter"/>
              </a:rPr>
              <a:t>Vertex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447000" y="4503134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Machine Learning Lifecycle from Data to Production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408297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868B"/>
                </a:solidFill>
                <a:latin typeface="Inter Medium"/>
                <a:ea typeface="Inter Medium"/>
                <a:cs typeface="Inter Medium"/>
                <a:sym typeface="Inter Medium"/>
              </a:rPr>
              <a:t>Praveen M S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425" y="54485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862137"/>
            <a:ext cx="52387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Store: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Centralized, reusable repository for online (low-latency) and offline (high-throughput) serving. Eliminates Training-Serving Skew.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844849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Integration: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Native integration with </a:t>
            </a: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BigQuery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Cloud Storage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for structured and unstructured data.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538091"/>
            <a:ext cx="52387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 Management: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Managed datasets for AutoML and custom training reuse, enabling consistent versioning across production pipelines.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4806553"/>
            <a:ext cx="4972050" cy="485775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4949428"/>
            <a:ext cx="449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37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Standardized, reusable data layer for ML pipelines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4806553"/>
            <a:ext cx="47625" cy="485775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A73E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&amp; Feature Management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5725" y="2065662"/>
            <a:ext cx="5877533" cy="34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1223367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A73E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Pipeline Orchestration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1223367"/>
            <a:ext cx="57150" cy="48577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090142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Vertex AI Pipelines: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Managed serverless execution of DAG-based workflows built on Kubeflow Pipelines (KFP).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783383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Reusable Components: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Modular, containerized steps promoting cross-team collaboration.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476625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Metadata Tracking: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Automated lineage tracking from raw data sources to deployed model endpoints.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169866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CI/CD Integration: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Trigger pipelines via GitHub, Cloud Build, or GitLab for automated retraining.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148857"/>
            <a:ext cx="4953000" cy="485775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5291732"/>
            <a:ext cx="447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37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Production-grade ML workflow automation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148857"/>
            <a:ext cx="47625" cy="485775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5813" y="0"/>
            <a:ext cx="64501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9941"/>
            <a:ext cx="110490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64208"/>
            <a:ext cx="3555950" cy="2719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764208"/>
            <a:ext cx="3555950" cy="2719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764208"/>
            <a:ext cx="3555950" cy="271998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19150" y="5075783"/>
            <a:ext cx="680323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Vertex AI Experiments: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Native hyperparameter tuning jobs and artifact logging for performance tracking.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8003381" y="5017591"/>
            <a:ext cx="3369468" cy="695325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241506" y="5160466"/>
            <a:ext cx="289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37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Flexible training spectrum: AutoML → Ray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8003381" y="5017591"/>
            <a:ext cx="47625" cy="695325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866775" y="2573833"/>
            <a:ext cx="31136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Serverless Training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2916733"/>
            <a:ext cx="29654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No infra management. On-demand compute for rapid experimentation and burst workloads.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13225" y="2573833"/>
            <a:ext cx="31136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Training Clusters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13225" y="2916733"/>
            <a:ext cx="29654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Reserved cluster capacity for high-performance, large-scale training (Slurm-based).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359675" y="2573833"/>
            <a:ext cx="31136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Distributed Ray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59675" y="2916733"/>
            <a:ext cx="29654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Distributed Python workloads using </a:t>
            </a: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Ray on Vertex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. Scales to multi-node GPU/TPU clusters.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088058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13225" y="208805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08805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A73E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 &amp; Experimentation Deep Dive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1862137"/>
            <a:ext cx="52387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Registry: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A versioned "Single Source of Truth" warehouse for all trained models, supporting semantic labels like staging or production.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2844849"/>
            <a:ext cx="52389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Metadata: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Tracks exact dataset, parameters, and </a:t>
            </a:r>
            <a:r>
              <a:rPr lang="en-US" sz="1425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matrics 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used. 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Crucial for </a:t>
            </a: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reproducibility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and audi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t compliance.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3788231"/>
            <a:ext cx="523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4517082"/>
            <a:ext cx="3848100" cy="485775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809625" y="4659957"/>
            <a:ext cx="337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37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Controlled, traceable model lifecycle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4517082"/>
            <a:ext cx="47625" cy="485775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A73E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Management &amp; Governance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1975" y="0"/>
            <a:ext cx="4270114" cy="66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3783"/>
            <a:ext cx="3555950" cy="1916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173783"/>
            <a:ext cx="3555950" cy="1916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73783"/>
            <a:ext cx="3555950" cy="191616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437569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70757A"/>
                </a:solidFill>
                <a:latin typeface="Inter"/>
                <a:ea typeface="Inter"/>
                <a:cs typeface="Inter"/>
                <a:sym typeface="Inter"/>
              </a:rPr>
              <a:t>Inference support via Prebuilt &amp; Custom Containers.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4371975" y="5065216"/>
            <a:ext cx="3448050" cy="485775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610100" y="5208091"/>
            <a:ext cx="2971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37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👉 Scalable, flexible model serving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4371975" y="5065216"/>
            <a:ext cx="47625" cy="485775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2469058"/>
            <a:ext cx="31136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73E8"/>
                </a:solidFill>
                <a:latin typeface="Inter"/>
                <a:ea typeface="Inter"/>
                <a:cs typeface="Inter"/>
                <a:sym typeface="Inter"/>
              </a:rPr>
              <a:t>Online Prediction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2811958"/>
            <a:ext cx="29654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Real-time endpoints with auto-scaling and sub-100ms latency for live applications.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13225" y="2469058"/>
            <a:ext cx="31136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A853"/>
                </a:solidFill>
                <a:latin typeface="Inter"/>
                <a:ea typeface="Inter"/>
                <a:cs typeface="Inter"/>
                <a:sym typeface="Inter"/>
              </a:rPr>
              <a:t>Batch Prediction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13225" y="2811958"/>
            <a:ext cx="29654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High-throughput offline prediction for massive scale processing (BQ/GCS).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359675" y="2469058"/>
            <a:ext cx="31136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BBC04"/>
                </a:solidFill>
                <a:latin typeface="Inter"/>
                <a:ea typeface="Inter"/>
                <a:cs typeface="Inter"/>
                <a:sym typeface="Inter"/>
              </a:rPr>
              <a:t>Advanced Rollouts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359675" y="2811958"/>
            <a:ext cx="29654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Support for </a:t>
            </a: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Canary rollouts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, A/B testing, and traffic splitting across versions.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A73E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Deployment &amp; Serving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ertex AI Endpoint Architecture Diagram showing Traffic Splitting" id="180" name="Google Shape;1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91352" cy="3797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es at the endpoint level.</a:t>
            </a:r>
            <a:endParaRPr sz="14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Container Support:</a:t>
            </a:r>
            <a:r>
              <a:rPr lang="en-US" sz="14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Optimized prebuilt containers or full </a:t>
            </a:r>
            <a:r>
              <a:rPr lang="en-US" sz="1300">
                <a:solidFill>
                  <a:srgbClr val="1967D2"/>
                </a:solidFill>
                <a:highlight>
                  <a:srgbClr val="E8F0FE"/>
                </a:highlight>
                <a:latin typeface="Courier New"/>
                <a:ea typeface="Courier New"/>
                <a:cs typeface="Courier New"/>
                <a:sym typeface="Courier New"/>
              </a:rPr>
              <a:t>BYOC</a:t>
            </a:r>
            <a:r>
              <a:rPr lang="en-US" sz="14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(Bring Your Own Container) for runtime flexibility.</a:t>
            </a:r>
            <a:endParaRPr sz="14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37333"/>
                </a:solidFill>
                <a:highlight>
                  <a:srgbClr val="E6F4EA"/>
                </a:highlight>
                <a:latin typeface="Inter"/>
                <a:ea typeface="Inter"/>
                <a:cs typeface="Inter"/>
                <a:sym typeface="Inter"/>
              </a:rPr>
              <a:t>👉 Industrial-grade, scalable model serving.</a:t>
            </a:r>
            <a:endParaRPr sz="1450">
              <a:solidFill>
                <a:srgbClr val="137333"/>
              </a:solidFill>
              <a:highlight>
                <a:srgbClr val="E6F4EA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12093"/>
            <a:ext cx="5286375" cy="419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809625" y="5879306"/>
            <a:ext cx="3933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37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Industrial-grade, scalable model serving.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04875" y="1512093"/>
            <a:ext cx="4953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Vertex AI Endpoints: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Permanent HTTPS interfaces that decouple client apps from internal model versions.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04875" y="2264568"/>
            <a:ext cx="4953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Online Prediction: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Low-latency inference with managed </a:t>
            </a: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autoscaling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(up to 100s of nodes) and Scale-to-Zero support.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04875" y="3288506"/>
            <a:ext cx="4953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Batch Prediction: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Asynchronous processing for massive BQ/GCS datasets, optimized for cost-efficiency.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04875" y="4040981"/>
            <a:ext cx="4953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Traffic Splitting: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Native support for </a:t>
            </a: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Canary rollouts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, A/B testing, and Blue-Green strategies at the endpoint level.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A73E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Deployment &amp; Serving: Vertex AI Endpoints</a:t>
            </a:r>
            <a:endParaRPr/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0800" y="1180101"/>
            <a:ext cx="5119701" cy="469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5512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2195512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Vertex Model Monitoring: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Proactive detection of Data Drift and Prediction Skew before performance drops.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2888753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Alerting: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Automated notifications via Cloud Monitoring (Slack, PagerDuty, email).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3581995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Feedback Loop:</a:t>
            </a:r>
            <a:r>
              <a:rPr b="0" i="0" lang="en-US" sz="142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 Closed-loop MLOps automatically triggers retraining pipelines based on drift thresholds.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4560986"/>
            <a:ext cx="4991100" cy="4953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809625" y="4703861"/>
            <a:ext cx="451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37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Closed-loop MLOps: Monitor → Retrain → Improve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71500" y="4560986"/>
            <a:ext cx="47625" cy="49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A73E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Monitoring &amp; Continuous Improvement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810023"/>
            <a:ext cx="3048000" cy="1434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810023"/>
            <a:ext cx="3048000" cy="1434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2810023"/>
            <a:ext cx="3048000" cy="143425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295275" y="1013668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A73E8"/>
                </a:solidFill>
                <a:latin typeface="Inter"/>
                <a:ea typeface="Inter"/>
                <a:cs typeface="Inter"/>
                <a:sym typeface="Inter"/>
              </a:rPr>
              <a:t>Vertex AI MLOps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1937593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Accelerating the path from Lab to Production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500628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1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Any Questions?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5486251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Thank you for your time!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390650" y="3057673"/>
            <a:ext cx="25527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73E8"/>
                </a:solidFill>
                <a:latin typeface="Inter"/>
                <a:ea typeface="Inter"/>
                <a:cs typeface="Inter"/>
                <a:sym typeface="Inter"/>
              </a:rPr>
              <a:t>EFFICIENCY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1390650" y="3394769"/>
            <a:ext cx="2552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Managed infrastructure reduces operational toil.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819650" y="3057673"/>
            <a:ext cx="25527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4A853"/>
                </a:solidFill>
                <a:latin typeface="Inter"/>
                <a:ea typeface="Inter"/>
                <a:cs typeface="Inter"/>
                <a:sym typeface="Inter"/>
              </a:rPr>
              <a:t>RELIABILITY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819650" y="3394769"/>
            <a:ext cx="2552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Automated versioning ensures reproducibility.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248650" y="3057673"/>
            <a:ext cx="25527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BBC04"/>
                </a:solidFill>
                <a:latin typeface="Inter"/>
                <a:ea typeface="Inter"/>
                <a:cs typeface="Inter"/>
                <a:sym typeface="Inter"/>
              </a:rPr>
              <a:t>CONTROL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248650" y="3394769"/>
            <a:ext cx="2552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Monitoring maintains model integrity over time.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571500" y="2491829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71500" y="347469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0372"/>
            <a:ext cx="1905000" cy="57894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1666875" y="263470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https://cdn.prod.website-files.com/60cce6512b4ab924a0427124/6291619b25175b5a71815253_m_2fTISPcqXc4r3ehCrQhgXXRWwq9YjSnCkr47CUz73RT5p8anB1kboAx3yCThRkCOdu22u38zFxNDryXoScUNvuhqw_IGVEnWvk4ibC0s8zyP3gDkq-eJyTs1X-elXcYo35K8Enozko-Mg1gA.png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666875" y="307850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www.featureform.com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41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1666875" y="361756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https://dagshub.com/blog/content/images/2021/08/DAG2.png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666875" y="38632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dagshub.com</a:t>
            </a:r>
            <a:endParaRPr/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080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1666875" y="440233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https://camo.githubusercontent.com/e0f5299cbda9a5d805475e6b99d8a2a7ce124766c572adfc4a579b33894e3c35/68747470733a2f2f7777772e6d657461626173652e636f6d2f696d616765732f6d657461626173652d70726f647563742d73637265656e73686f742d757064617465642e706e67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666875" y="48461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github.com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A73E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Sources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